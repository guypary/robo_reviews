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492e2e81a_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492e2e81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492e2e81a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492e2e81a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2492e2e81a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2492e2e81a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2492e2e81a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2492e2e81a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492e2e81a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492e2e81a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2492e2e81a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2492e2e81a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2492e2e81a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2492e2e81a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2492e2e81a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2492e2e81a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2492e2e81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2492e2e81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492e2e81a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492e2e81a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492e2e81a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2492e2e81a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492e2e81a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492e2e81a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844675" y="781525"/>
            <a:ext cx="7882200" cy="1064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800"/>
              <a:t>Review based product adviser</a:t>
            </a:r>
            <a:endParaRPr sz="38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Guy Parsdanov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Pitch</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t>Do you also have this lost feeling while browsing through the see of products on multiple platforms wasting time to go through all the bullet points and reviews and Q&amp;A and then having the recognition frustration and acceptance phases that you can’t find anything? We have a solution for you.</a:t>
            </a:r>
            <a:endParaRPr sz="1600"/>
          </a:p>
          <a:p>
            <a:pPr indent="0" lvl="0" marL="0" rtl="0" algn="l">
              <a:spcBef>
                <a:spcPts val="1200"/>
              </a:spcBef>
              <a:spcAft>
                <a:spcPts val="0"/>
              </a:spcAft>
              <a:buNone/>
            </a:pPr>
            <a:r>
              <a:rPr lang="en" sz="1600"/>
              <a:t>A “Review based product adviser” will collect all reviews done per product per category and write you an article collected from users reviews and experience with a product of your choice on multiple marketplaces. Or alternatively will suggest you best product of the category on a specific marketplace of your choice based user experience with the product.</a:t>
            </a:r>
            <a:endParaRPr sz="1600"/>
          </a:p>
          <a:p>
            <a:pPr indent="0" lvl="0" marL="0" rtl="0" algn="l">
              <a:spcBef>
                <a:spcPts val="1200"/>
              </a:spcBef>
              <a:spcAft>
                <a:spcPts val="120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sz="1000"/>
              <a:t>We are going to use several models for that </a:t>
            </a:r>
            <a:r>
              <a:rPr lang="en" sz="1000"/>
              <a:t>project</a:t>
            </a:r>
            <a:r>
              <a:rPr lang="en" sz="1000"/>
              <a:t> to work together as one</a:t>
            </a:r>
            <a:endParaRPr sz="1000"/>
          </a:p>
          <a:p>
            <a:pPr indent="-292100" lvl="1" marL="914400" rtl="0" algn="l">
              <a:spcBef>
                <a:spcPts val="0"/>
              </a:spcBef>
              <a:spcAft>
                <a:spcPts val="0"/>
              </a:spcAft>
              <a:buSzPts val="1000"/>
              <a:buChar char="○"/>
            </a:pPr>
            <a:r>
              <a:rPr lang="en" sz="1000"/>
              <a:t>Logistic Regression</a:t>
            </a:r>
            <a:r>
              <a:rPr lang="en" sz="1000"/>
              <a:t> model for customer reviews classification (negative, positive, neutral)</a:t>
            </a:r>
            <a:endParaRPr sz="1000"/>
          </a:p>
          <a:p>
            <a:pPr indent="-292100" lvl="1" marL="914400" rtl="0" algn="l">
              <a:spcBef>
                <a:spcPts val="0"/>
              </a:spcBef>
              <a:spcAft>
                <a:spcPts val="0"/>
              </a:spcAft>
              <a:buSzPts val="1000"/>
              <a:buChar char="○"/>
            </a:pPr>
            <a:r>
              <a:rPr lang="en" sz="1000"/>
              <a:t>K-Means Clustering for category clustering </a:t>
            </a:r>
            <a:endParaRPr sz="1000"/>
          </a:p>
          <a:p>
            <a:pPr indent="-292100" lvl="1" marL="914400" rtl="0" algn="l">
              <a:spcBef>
                <a:spcPts val="0"/>
              </a:spcBef>
              <a:spcAft>
                <a:spcPts val="0"/>
              </a:spcAft>
              <a:buSzPts val="1000"/>
              <a:buChar char="○"/>
            </a:pPr>
            <a:r>
              <a:rPr lang="en" sz="1000"/>
              <a:t>Use a </a:t>
            </a:r>
            <a:r>
              <a:rPr lang="en" sz="1000"/>
              <a:t>pre trained</a:t>
            </a:r>
            <a:r>
              <a:rPr lang="en" sz="1000"/>
              <a:t> </a:t>
            </a:r>
            <a:r>
              <a:rPr lang="en" sz="1000"/>
              <a:t>GPT-2 Large with fine tuning </a:t>
            </a:r>
            <a:r>
              <a:rPr lang="en" sz="1000"/>
              <a:t>model for a</a:t>
            </a:r>
            <a:r>
              <a:rPr lang="en" sz="1000"/>
              <a:t>rticle</a:t>
            </a:r>
            <a:r>
              <a:rPr lang="en" sz="1000"/>
              <a:t> generation</a:t>
            </a:r>
            <a:endParaRPr sz="1000"/>
          </a:p>
          <a:p>
            <a:pPr indent="0" lvl="0" marL="0" rtl="0" algn="l">
              <a:spcBef>
                <a:spcPts val="1200"/>
              </a:spcBef>
              <a:spcAft>
                <a:spcPts val="0"/>
              </a:spcAft>
              <a:buNone/>
            </a:pPr>
            <a:r>
              <a:t/>
            </a:r>
            <a:endParaRPr sz="1000"/>
          </a:p>
          <a:p>
            <a:pPr indent="-292100" lvl="0" marL="457200" rtl="0" algn="l">
              <a:spcBef>
                <a:spcPts val="1200"/>
              </a:spcBef>
              <a:spcAft>
                <a:spcPts val="0"/>
              </a:spcAft>
              <a:buSzPts val="1000"/>
              <a:buChar char="●"/>
            </a:pPr>
            <a:r>
              <a:rPr lang="en" sz="1000"/>
              <a:t>Each model </a:t>
            </a:r>
            <a:r>
              <a:rPr lang="en" sz="1000"/>
              <a:t>quality</a:t>
            </a:r>
            <a:r>
              <a:rPr lang="en" sz="1000"/>
              <a:t> </a:t>
            </a:r>
            <a:r>
              <a:rPr lang="en" sz="1000"/>
              <a:t>performance</a:t>
            </a:r>
            <a:r>
              <a:rPr lang="en" sz="1000"/>
              <a:t> depends on each other</a:t>
            </a:r>
            <a:endParaRPr sz="1000"/>
          </a:p>
          <a:p>
            <a:pPr indent="-292100" lvl="1" marL="914400" rtl="0" algn="l">
              <a:spcBef>
                <a:spcPts val="0"/>
              </a:spcBef>
              <a:spcAft>
                <a:spcPts val="0"/>
              </a:spcAft>
              <a:buSzPts val="1000"/>
              <a:buChar char="○"/>
            </a:pPr>
            <a:r>
              <a:rPr lang="en" sz="1000"/>
              <a:t>By processing reviews </a:t>
            </a:r>
            <a:r>
              <a:rPr lang="en" sz="1000"/>
              <a:t>classification</a:t>
            </a:r>
            <a:r>
              <a:rPr lang="en" sz="1000"/>
              <a:t> in to 3 sentiments we create a dataset for the </a:t>
            </a:r>
            <a:r>
              <a:rPr lang="en" sz="1000"/>
              <a:t>model</a:t>
            </a:r>
            <a:r>
              <a:rPr lang="en" sz="1000"/>
              <a:t> fine tuning to </a:t>
            </a:r>
            <a:r>
              <a:rPr lang="en" sz="1000"/>
              <a:t>differentiate</a:t>
            </a:r>
            <a:r>
              <a:rPr lang="en" sz="1000"/>
              <a:t> the </a:t>
            </a:r>
            <a:r>
              <a:rPr lang="en" sz="1000"/>
              <a:t>reviews</a:t>
            </a:r>
            <a:r>
              <a:rPr lang="en" sz="1000"/>
              <a:t> to get the best </a:t>
            </a:r>
            <a:r>
              <a:rPr lang="en" sz="1000"/>
              <a:t>product</a:t>
            </a:r>
            <a:endParaRPr sz="1000"/>
          </a:p>
          <a:p>
            <a:pPr indent="-292100" lvl="1" marL="914400" rtl="0" algn="l">
              <a:spcBef>
                <a:spcPts val="0"/>
              </a:spcBef>
              <a:spcAft>
                <a:spcPts val="0"/>
              </a:spcAft>
              <a:buSzPts val="1000"/>
              <a:buChar char="○"/>
            </a:pPr>
            <a:r>
              <a:rPr lang="en" sz="1000"/>
              <a:t>By </a:t>
            </a:r>
            <a:r>
              <a:rPr lang="en" sz="1000"/>
              <a:t>processing</a:t>
            </a:r>
            <a:r>
              <a:rPr lang="en" sz="1000"/>
              <a:t> the category clustering we will give </a:t>
            </a:r>
            <a:r>
              <a:rPr lang="en" sz="1000"/>
              <a:t>precise</a:t>
            </a:r>
            <a:r>
              <a:rPr lang="en" sz="1000"/>
              <a:t> </a:t>
            </a:r>
            <a:r>
              <a:rPr lang="en" sz="1000"/>
              <a:t>product</a:t>
            </a:r>
            <a:r>
              <a:rPr lang="en" sz="1000"/>
              <a:t> vs </a:t>
            </a:r>
            <a:r>
              <a:rPr lang="en" sz="1000"/>
              <a:t>category</a:t>
            </a:r>
            <a:r>
              <a:rPr lang="en" sz="1000"/>
              <a:t> </a:t>
            </a:r>
            <a:r>
              <a:rPr lang="en" sz="1000"/>
              <a:t>classification</a:t>
            </a:r>
            <a:r>
              <a:rPr lang="en" sz="1000"/>
              <a:t> </a:t>
            </a:r>
            <a:endParaRPr sz="1000"/>
          </a:p>
          <a:p>
            <a:pPr indent="-292100" lvl="1" marL="914400" rtl="0" algn="l">
              <a:spcBef>
                <a:spcPts val="0"/>
              </a:spcBef>
              <a:spcAft>
                <a:spcPts val="0"/>
              </a:spcAft>
              <a:buSzPts val="1000"/>
              <a:buChar char="○"/>
            </a:pPr>
            <a:r>
              <a:rPr lang="en" sz="1000"/>
              <a:t>In the end we create a </a:t>
            </a:r>
            <a:r>
              <a:rPr lang="en" sz="1000"/>
              <a:t>quality</a:t>
            </a:r>
            <a:r>
              <a:rPr lang="en" sz="1000"/>
              <a:t> dataset for the last model to create the articles </a:t>
            </a:r>
            <a:endParaRPr sz="1000"/>
          </a:p>
          <a:p>
            <a:pPr indent="0" lvl="0" marL="0" rtl="0" algn="l">
              <a:spcBef>
                <a:spcPts val="1200"/>
              </a:spcBef>
              <a:spcAft>
                <a:spcPts val="0"/>
              </a:spcAft>
              <a:buNone/>
            </a:pPr>
            <a:r>
              <a:t/>
            </a:r>
            <a:endParaRPr sz="1000"/>
          </a:p>
          <a:p>
            <a:pPr indent="-292100" lvl="0" marL="457200" rtl="0" algn="l">
              <a:spcBef>
                <a:spcPts val="1200"/>
              </a:spcBef>
              <a:spcAft>
                <a:spcPts val="0"/>
              </a:spcAft>
              <a:buSzPts val="1000"/>
              <a:buChar char="●"/>
            </a:pPr>
            <a:r>
              <a:rPr lang="en" sz="1000"/>
              <a:t>Design of one models affect each other to provide the best quality performance for the training set for the model eventually performing the product articles</a:t>
            </a:r>
            <a:endParaRPr sz="1000"/>
          </a:p>
          <a:p>
            <a:pPr indent="0" lvl="0" marL="0" rtl="0" algn="l">
              <a:spcBef>
                <a:spcPts val="1200"/>
              </a:spcBef>
              <a:spcAft>
                <a:spcPts val="0"/>
              </a:spcAft>
              <a:buNone/>
            </a:pPr>
            <a:r>
              <a:t/>
            </a:r>
            <a:endParaRPr sz="1000"/>
          </a:p>
          <a:p>
            <a:pPr indent="0" lvl="0" marL="0" rtl="0" algn="l">
              <a:spcBef>
                <a:spcPts val="1200"/>
              </a:spcBef>
              <a:spcAft>
                <a:spcPts val="1200"/>
              </a:spcAft>
              <a:buNone/>
            </a:pPr>
            <a:r>
              <a:rPr lang="en" sz="1000"/>
              <a:t>Now that you have seen our super cool product and know why this matters, let me show how we did it!</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of data</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Fro reviews classification we have used the </a:t>
            </a:r>
            <a:r>
              <a:rPr lang="en"/>
              <a:t>following</a:t>
            </a:r>
            <a:r>
              <a:rPr lang="en"/>
              <a:t> preprocessing </a:t>
            </a:r>
            <a:r>
              <a:rPr lang="en"/>
              <a:t>strategy</a:t>
            </a:r>
            <a:endParaRPr/>
          </a:p>
          <a:p>
            <a:pPr indent="-317500" lvl="1" marL="914400" rtl="0" algn="l">
              <a:spcBef>
                <a:spcPts val="0"/>
              </a:spcBef>
              <a:spcAft>
                <a:spcPts val="0"/>
              </a:spcAft>
              <a:buSzPts val="1400"/>
              <a:buChar char="○"/>
            </a:pPr>
            <a:r>
              <a:rPr lang="en"/>
              <a:t>Removing stop words</a:t>
            </a:r>
            <a:endParaRPr/>
          </a:p>
          <a:p>
            <a:pPr indent="-317500" lvl="1" marL="914400" rtl="0" algn="l">
              <a:spcBef>
                <a:spcPts val="0"/>
              </a:spcBef>
              <a:spcAft>
                <a:spcPts val="0"/>
              </a:spcAft>
              <a:buSzPts val="1400"/>
              <a:buChar char="○"/>
            </a:pPr>
            <a:r>
              <a:rPr lang="en"/>
              <a:t>Removing special characters</a:t>
            </a:r>
            <a:endParaRPr/>
          </a:p>
          <a:p>
            <a:pPr indent="-317500" lvl="1" marL="914400" rtl="0" algn="l">
              <a:spcBef>
                <a:spcPts val="0"/>
              </a:spcBef>
              <a:spcAft>
                <a:spcPts val="0"/>
              </a:spcAft>
              <a:buSzPts val="1400"/>
              <a:buChar char="○"/>
            </a:pPr>
            <a:r>
              <a:rPr lang="en"/>
              <a:t>Change high case to low</a:t>
            </a:r>
            <a:endParaRPr/>
          </a:p>
          <a:p>
            <a:pPr indent="-342900" lvl="0" marL="457200" rtl="0" algn="l">
              <a:spcBef>
                <a:spcPts val="0"/>
              </a:spcBef>
              <a:spcAft>
                <a:spcPts val="0"/>
              </a:spcAft>
              <a:buSzPts val="1800"/>
              <a:buChar char="●"/>
            </a:pPr>
            <a:r>
              <a:rPr lang="en"/>
              <a:t>For category clustering we have used the following preprocessing strategy</a:t>
            </a:r>
            <a:endParaRPr/>
          </a:p>
          <a:p>
            <a:pPr indent="-317500" lvl="1" marL="914400" rtl="0" algn="l">
              <a:spcBef>
                <a:spcPts val="0"/>
              </a:spcBef>
              <a:spcAft>
                <a:spcPts val="0"/>
              </a:spcAft>
              <a:buSzPts val="1400"/>
              <a:buChar char="○"/>
            </a:pPr>
            <a:r>
              <a:rPr lang="en" sz="1400"/>
              <a:t>Removing special characters</a:t>
            </a:r>
            <a:endParaRPr sz="1400"/>
          </a:p>
          <a:p>
            <a:pPr indent="-317500" lvl="1" marL="914400" rtl="0" algn="l">
              <a:spcBef>
                <a:spcPts val="0"/>
              </a:spcBef>
              <a:spcAft>
                <a:spcPts val="0"/>
              </a:spcAft>
              <a:buSzPts val="1400"/>
              <a:buChar char="○"/>
            </a:pPr>
            <a:r>
              <a:rPr lang="en"/>
              <a:t>Removing empty rows</a:t>
            </a:r>
            <a:endParaRPr/>
          </a:p>
          <a:p>
            <a:pPr indent="-317500" lvl="1" marL="914400" rtl="0" algn="l">
              <a:spcBef>
                <a:spcPts val="0"/>
              </a:spcBef>
              <a:spcAft>
                <a:spcPts val="0"/>
              </a:spcAft>
              <a:buSzPts val="1400"/>
              <a:buChar char="○"/>
            </a:pPr>
            <a:r>
              <a:rPr lang="en"/>
              <a:t>Removing duplicates</a:t>
            </a:r>
            <a:endParaRPr/>
          </a:p>
          <a:p>
            <a:pPr indent="-317500" lvl="1" marL="914400" rtl="0" algn="l">
              <a:spcBef>
                <a:spcPts val="0"/>
              </a:spcBef>
              <a:spcAft>
                <a:spcPts val="0"/>
              </a:spcAft>
              <a:buSzPts val="1400"/>
              <a:buChar char="○"/>
            </a:pPr>
            <a:r>
              <a:rPr lang="en"/>
              <a:t>Change high case to low</a:t>
            </a:r>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1</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classify customer reviews into positive, negative, or neutral categories </a:t>
            </a:r>
            <a:endParaRPr/>
          </a:p>
          <a:p>
            <a:pPr indent="-342900" lvl="0" marL="457200" rtl="0" algn="l">
              <a:spcBef>
                <a:spcPts val="1200"/>
              </a:spcBef>
              <a:spcAft>
                <a:spcPts val="0"/>
              </a:spcAft>
              <a:buSzPts val="1800"/>
              <a:buChar char="●"/>
            </a:pPr>
            <a:r>
              <a:rPr lang="en"/>
              <a:t>We used a logistic regression and got very good results </a:t>
            </a:r>
            <a:r>
              <a:rPr lang="en"/>
              <a:t>straight</a:t>
            </a:r>
            <a:r>
              <a:rPr lang="en"/>
              <a:t> away with 92% accuracy and decided not to proceed with other strategies in order to save time for the most time consuming last model fine tuning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1 - Evaluation</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t>
            </a:r>
            <a:r>
              <a:rPr lang="en"/>
              <a:t>ustomer reviews into positive, negative, or neutral classification </a:t>
            </a:r>
            <a:endParaRPr/>
          </a:p>
          <a:p>
            <a:pPr indent="-342900" lvl="0" marL="457200" rtl="0" algn="l">
              <a:spcBef>
                <a:spcPts val="1200"/>
              </a:spcBef>
              <a:spcAft>
                <a:spcPts val="0"/>
              </a:spcAft>
              <a:buSzPts val="1800"/>
              <a:buChar char="●"/>
            </a:pPr>
            <a:r>
              <a:rPr lang="en"/>
              <a:t>Challenges</a:t>
            </a:r>
            <a:endParaRPr/>
          </a:p>
          <a:p>
            <a:pPr indent="-317500" lvl="1" marL="914400" rtl="0" algn="l">
              <a:spcBef>
                <a:spcPts val="0"/>
              </a:spcBef>
              <a:spcAft>
                <a:spcPts val="0"/>
              </a:spcAft>
              <a:buSzPts val="1400"/>
              <a:buChar char="○"/>
            </a:pPr>
            <a:r>
              <a:rPr lang="en"/>
              <a:t>When removing the stop words the in some cases the </a:t>
            </a:r>
            <a:r>
              <a:rPr lang="en"/>
              <a:t>classification</a:t>
            </a:r>
            <a:r>
              <a:rPr lang="en"/>
              <a:t> went wrong </a:t>
            </a:r>
            <a:r>
              <a:rPr lang="en"/>
              <a:t>because</a:t>
            </a:r>
            <a:r>
              <a:rPr lang="en"/>
              <a:t> of </a:t>
            </a:r>
            <a:r>
              <a:rPr lang="en"/>
              <a:t>combination of</a:t>
            </a:r>
            <a:r>
              <a:rPr lang="en"/>
              <a:t> words like “ I was not </a:t>
            </a:r>
            <a:r>
              <a:rPr lang="en"/>
              <a:t>disappointed</a:t>
            </a:r>
            <a:r>
              <a:rPr lang="en"/>
              <a:t> in a </a:t>
            </a:r>
            <a:r>
              <a:rPr lang="en"/>
              <a:t>product</a:t>
            </a:r>
            <a:r>
              <a:rPr lang="en"/>
              <a:t>” </a:t>
            </a:r>
            <a:r>
              <a:rPr lang="en"/>
              <a:t>classifying</a:t>
            </a:r>
            <a:r>
              <a:rPr lang="en"/>
              <a:t> the review as negative.</a:t>
            </a:r>
            <a:endParaRPr/>
          </a:p>
          <a:p>
            <a:pPr indent="-317500" lvl="1" marL="914400" rtl="0" algn="l">
              <a:spcBef>
                <a:spcPts val="0"/>
              </a:spcBef>
              <a:spcAft>
                <a:spcPts val="0"/>
              </a:spcAft>
              <a:buSzPts val="1400"/>
              <a:buChar char="○"/>
            </a:pPr>
            <a:r>
              <a:rPr lang="en"/>
              <a:t>By </a:t>
            </a:r>
            <a:r>
              <a:rPr lang="en"/>
              <a:t>adopting</a:t>
            </a:r>
            <a:r>
              <a:rPr lang="en"/>
              <a:t> the stop words </a:t>
            </a:r>
            <a:r>
              <a:rPr lang="en"/>
              <a:t>library</a:t>
            </a:r>
            <a:r>
              <a:rPr lang="en"/>
              <a:t> that has solved the issue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2</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Cluster product categories</a:t>
            </a:r>
            <a:r>
              <a:rPr lang="en"/>
              <a:t> into just 4-6 of them</a:t>
            </a:r>
            <a:endParaRPr/>
          </a:p>
          <a:p>
            <a:pPr indent="0" lvl="0" marL="0" rtl="0" algn="l">
              <a:spcBef>
                <a:spcPts val="1200"/>
              </a:spcBef>
              <a:spcAft>
                <a:spcPts val="0"/>
              </a:spcAft>
              <a:buClr>
                <a:schemeClr val="dk1"/>
              </a:buClr>
              <a:buSzPts val="1100"/>
              <a:buFont typeface="Arial"/>
              <a:buNone/>
            </a:pPr>
            <a:r>
              <a:t/>
            </a:r>
            <a:endParaRPr/>
          </a:p>
          <a:p>
            <a:pPr indent="-342900" lvl="0" marL="914400" rtl="0" algn="l">
              <a:spcBef>
                <a:spcPts val="1200"/>
              </a:spcBef>
              <a:spcAft>
                <a:spcPts val="0"/>
              </a:spcAft>
              <a:buSzPts val="1800"/>
              <a:buChar char="●"/>
            </a:pPr>
            <a:r>
              <a:rPr lang="en"/>
              <a:t>By </a:t>
            </a:r>
            <a:r>
              <a:rPr lang="en"/>
              <a:t>clustering</a:t>
            </a:r>
            <a:r>
              <a:rPr lang="en"/>
              <a:t> the the categories we decided to </a:t>
            </a:r>
            <a:r>
              <a:rPr lang="en"/>
              <a:t>use</a:t>
            </a:r>
            <a:r>
              <a:rPr lang="en"/>
              <a:t> the K-Means model and back it up with the ELBOW K-Means</a:t>
            </a:r>
            <a:endParaRPr/>
          </a:p>
          <a:p>
            <a:pPr indent="-342900" lvl="0" marL="914400" rtl="0" algn="l">
              <a:spcBef>
                <a:spcPts val="0"/>
              </a:spcBef>
              <a:spcAft>
                <a:spcPts val="0"/>
              </a:spcAft>
              <a:buSzPts val="1800"/>
              <a:buChar char="●"/>
            </a:pPr>
            <a:r>
              <a:rPr lang="en"/>
              <a:t>After processing with both models we </a:t>
            </a:r>
            <a:r>
              <a:rPr lang="en"/>
              <a:t>didn't</a:t>
            </a:r>
            <a:r>
              <a:rPr lang="en"/>
              <a:t> </a:t>
            </a:r>
            <a:r>
              <a:rPr lang="en"/>
              <a:t>achieve better performance </a:t>
            </a:r>
            <a:endParaRPr/>
          </a:p>
          <a:p>
            <a:pPr indent="-342900" lvl="0" marL="914400" rtl="0" algn="l">
              <a:spcBef>
                <a:spcPts val="0"/>
              </a:spcBef>
              <a:spcAft>
                <a:spcPts val="0"/>
              </a:spcAft>
              <a:buSzPts val="1800"/>
              <a:buChar char="●"/>
            </a:pPr>
            <a:r>
              <a:rPr lang="en"/>
              <a:t>And decided to stay with K-Means basic model.</a:t>
            </a:r>
            <a:endParaRPr/>
          </a:p>
          <a:p>
            <a:pPr indent="-342900" lvl="0" marL="914400" rtl="0" algn="l">
              <a:spcBef>
                <a:spcPts val="0"/>
              </a:spcBef>
              <a:spcAft>
                <a:spcPts val="0"/>
              </a:spcAft>
              <a:buSzPts val="1800"/>
              <a:buChar char="●"/>
            </a:pPr>
            <a:r>
              <a:rPr lang="en"/>
              <a:t>We performed with Silhouette Score: 0.76 in both models</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281300" y="125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2 - Evaluation</a:t>
            </a:r>
            <a:endParaRPr/>
          </a:p>
        </p:txBody>
      </p:sp>
      <p:sp>
        <p:nvSpPr>
          <p:cNvPr id="97" name="Google Shape;97;p20"/>
          <p:cNvSpPr txBox="1"/>
          <p:nvPr>
            <p:ph idx="1" type="body"/>
          </p:nvPr>
        </p:nvSpPr>
        <p:spPr>
          <a:xfrm>
            <a:off x="311700" y="698650"/>
            <a:ext cx="8520600" cy="13071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Cluster product categories</a:t>
            </a:r>
            <a:r>
              <a:rPr lang="en"/>
              <a:t> into just 4-6 of them</a:t>
            </a:r>
            <a:endParaRPr/>
          </a:p>
          <a:p>
            <a:pPr indent="-308610" lvl="0" marL="914400" rtl="0" algn="l">
              <a:spcBef>
                <a:spcPts val="1200"/>
              </a:spcBef>
              <a:spcAft>
                <a:spcPts val="0"/>
              </a:spcAft>
              <a:buSzPct val="100000"/>
              <a:buChar char="●"/>
            </a:pPr>
            <a:r>
              <a:rPr lang="en"/>
              <a:t>After going through the results of clustering we decided to use in the future different approach of not using the clustering model for category clustering either using the original category of the product. </a:t>
            </a:r>
            <a:endParaRPr/>
          </a:p>
          <a:p>
            <a:pPr indent="0" lvl="0" marL="0" rtl="0" algn="l">
              <a:spcBef>
                <a:spcPts val="1200"/>
              </a:spcBef>
              <a:spcAft>
                <a:spcPts val="1200"/>
              </a:spcAft>
              <a:buNone/>
            </a:pPr>
            <a:r>
              <a:t/>
            </a:r>
            <a:endParaRPr/>
          </a:p>
        </p:txBody>
      </p:sp>
      <p:pic>
        <p:nvPicPr>
          <p:cNvPr id="98" name="Google Shape;98;p20"/>
          <p:cNvPicPr preferRelativeResize="0"/>
          <p:nvPr/>
        </p:nvPicPr>
        <p:blipFill>
          <a:blip r:embed="rId3">
            <a:alphaModFix/>
          </a:blip>
          <a:stretch>
            <a:fillRect/>
          </a:stretch>
        </p:blipFill>
        <p:spPr>
          <a:xfrm>
            <a:off x="345675" y="1708400"/>
            <a:ext cx="8486626" cy="3282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93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577"/>
              <a:t>Generated DataSet sample for model fine tuning from reviews </a:t>
            </a:r>
            <a:r>
              <a:rPr lang="en" sz="1577"/>
              <a:t>classification</a:t>
            </a:r>
            <a:r>
              <a:rPr lang="en" sz="1577"/>
              <a:t> and category </a:t>
            </a:r>
            <a:r>
              <a:rPr lang="en" sz="1577"/>
              <a:t>clustering</a:t>
            </a:r>
            <a:r>
              <a:rPr lang="en"/>
              <a:t>  </a:t>
            </a:r>
            <a:endParaRPr/>
          </a:p>
          <a:p>
            <a:pPr indent="-300355" lvl="0" marL="457200" rtl="0" algn="l">
              <a:spcBef>
                <a:spcPts val="0"/>
              </a:spcBef>
              <a:spcAft>
                <a:spcPts val="0"/>
              </a:spcAft>
              <a:buSzPct val="100000"/>
              <a:buChar char="●"/>
            </a:pPr>
            <a:r>
              <a:rPr lang="en" sz="1255"/>
              <a:t>We have </a:t>
            </a:r>
            <a:r>
              <a:rPr lang="en" sz="1255"/>
              <a:t>generate</a:t>
            </a:r>
            <a:r>
              <a:rPr lang="en" sz="1255"/>
              <a:t> 65K of samples for fine tuning </a:t>
            </a:r>
            <a:endParaRPr sz="1255"/>
          </a:p>
        </p:txBody>
      </p:sp>
      <p:pic>
        <p:nvPicPr>
          <p:cNvPr id="104" name="Google Shape;104;p21"/>
          <p:cNvPicPr preferRelativeResize="0"/>
          <p:nvPr/>
        </p:nvPicPr>
        <p:blipFill>
          <a:blip r:embed="rId3">
            <a:alphaModFix/>
          </a:blip>
          <a:stretch>
            <a:fillRect/>
          </a:stretch>
        </p:blipFill>
        <p:spPr>
          <a:xfrm>
            <a:off x="152400" y="1853775"/>
            <a:ext cx="8839199" cy="246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201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3</a:t>
            </a:r>
            <a:endParaRPr/>
          </a:p>
        </p:txBody>
      </p:sp>
      <p:sp>
        <p:nvSpPr>
          <p:cNvPr id="110" name="Google Shape;110;p22"/>
          <p:cNvSpPr txBox="1"/>
          <p:nvPr>
            <p:ph idx="1" type="body"/>
          </p:nvPr>
        </p:nvSpPr>
        <p:spPr>
          <a:xfrm>
            <a:off x="311700" y="774600"/>
            <a:ext cx="8520600" cy="4110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Use Generative AI to </a:t>
            </a:r>
            <a:r>
              <a:rPr b="1" lang="en"/>
              <a:t>summarize reviews </a:t>
            </a:r>
            <a:r>
              <a:rPr lang="en"/>
              <a:t>into an article which recommends the top products for each category</a:t>
            </a:r>
            <a:endParaRPr/>
          </a:p>
          <a:p>
            <a:pPr indent="-334327" lvl="0" marL="914400" rtl="0" algn="l">
              <a:spcBef>
                <a:spcPts val="1200"/>
              </a:spcBef>
              <a:spcAft>
                <a:spcPts val="0"/>
              </a:spcAft>
              <a:buSzPct val="100000"/>
              <a:buChar char="●"/>
            </a:pPr>
            <a:r>
              <a:rPr lang="en"/>
              <a:t>Challenges:</a:t>
            </a:r>
            <a:endParaRPr/>
          </a:p>
          <a:p>
            <a:pPr indent="0" lvl="0" marL="457200" rtl="0" algn="l">
              <a:spcBef>
                <a:spcPts val="1200"/>
              </a:spcBef>
              <a:spcAft>
                <a:spcPts val="0"/>
              </a:spcAft>
              <a:buNone/>
            </a:pPr>
            <a:r>
              <a:t/>
            </a:r>
            <a:endParaRPr/>
          </a:p>
          <a:p>
            <a:pPr indent="-310832" lvl="2" marL="1371600" rtl="0" algn="l">
              <a:spcBef>
                <a:spcPts val="1200"/>
              </a:spcBef>
              <a:spcAft>
                <a:spcPts val="0"/>
              </a:spcAft>
              <a:buSzPct val="100000"/>
              <a:buChar char="■"/>
            </a:pPr>
            <a:r>
              <a:rPr lang="en"/>
              <a:t>One of the challenges was to find a pre trained model that is not too big for fine tuning  as of time and resource consumption for large models can be massive.</a:t>
            </a:r>
            <a:endParaRPr/>
          </a:p>
          <a:p>
            <a:pPr indent="-310832" lvl="2" marL="1371600" rtl="0" algn="l">
              <a:spcBef>
                <a:spcPts val="0"/>
              </a:spcBef>
              <a:spcAft>
                <a:spcPts val="0"/>
              </a:spcAft>
              <a:buSzPct val="100000"/>
              <a:buChar char="■"/>
            </a:pPr>
            <a:r>
              <a:rPr lang="en"/>
              <a:t> We have tried several models</a:t>
            </a:r>
            <a:endParaRPr/>
          </a:p>
          <a:p>
            <a:pPr indent="-310832" lvl="3" marL="1828800" rtl="0" algn="l">
              <a:spcBef>
                <a:spcPts val="0"/>
              </a:spcBef>
              <a:spcAft>
                <a:spcPts val="0"/>
              </a:spcAft>
              <a:buSzPct val="100000"/>
              <a:buChar char="●"/>
            </a:pPr>
            <a:r>
              <a:rPr lang="en"/>
              <a:t>GTP Neox 20B</a:t>
            </a:r>
            <a:endParaRPr/>
          </a:p>
          <a:p>
            <a:pPr indent="-310832" lvl="3" marL="1828800" rtl="0" algn="l">
              <a:spcBef>
                <a:spcPts val="0"/>
              </a:spcBef>
              <a:spcAft>
                <a:spcPts val="0"/>
              </a:spcAft>
              <a:buSzPct val="100000"/>
              <a:buChar char="●"/>
            </a:pPr>
            <a:r>
              <a:rPr lang="en"/>
              <a:t>Llama 2 8B</a:t>
            </a:r>
            <a:endParaRPr/>
          </a:p>
          <a:p>
            <a:pPr indent="-310832" lvl="3" marL="1828800" rtl="0" algn="l">
              <a:spcBef>
                <a:spcPts val="0"/>
              </a:spcBef>
              <a:spcAft>
                <a:spcPts val="0"/>
              </a:spcAft>
              <a:buSzPct val="100000"/>
              <a:buChar char="●"/>
            </a:pPr>
            <a:r>
              <a:rPr lang="en"/>
              <a:t>GTP - 2 large model</a:t>
            </a:r>
            <a:endParaRPr/>
          </a:p>
          <a:p>
            <a:pPr indent="0" lvl="0" marL="1828800" rtl="0" algn="l">
              <a:spcBef>
                <a:spcPts val="1200"/>
              </a:spcBef>
              <a:spcAft>
                <a:spcPts val="0"/>
              </a:spcAft>
              <a:buNone/>
            </a:pPr>
            <a:r>
              <a:t/>
            </a:r>
            <a:endParaRPr/>
          </a:p>
          <a:p>
            <a:pPr indent="-310832" lvl="2" marL="1371600" rtl="0" algn="l">
              <a:spcBef>
                <a:spcPts val="1200"/>
              </a:spcBef>
              <a:spcAft>
                <a:spcPts val="0"/>
              </a:spcAft>
              <a:buSzPct val="100000"/>
              <a:buChar char="■"/>
            </a:pPr>
            <a:r>
              <a:rPr lang="en"/>
              <a:t>Eventually we took a decision to stay with GTP - 2 large model as a reason of time and resources were pressuring but also after fine tuning should improve the model performance.</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3 - Evaluation</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342900" lvl="0" marL="914400" rtl="0" algn="l">
              <a:spcBef>
                <a:spcPts val="1200"/>
              </a:spcBef>
              <a:spcAft>
                <a:spcPts val="0"/>
              </a:spcAft>
              <a:buSzPts val="1800"/>
              <a:buChar char="●"/>
            </a:pPr>
            <a:r>
              <a:rPr lang="en"/>
              <a:t>As we wanted to get the best performance of the pre trained model to write the </a:t>
            </a:r>
            <a:r>
              <a:rPr lang="en"/>
              <a:t>Product</a:t>
            </a:r>
            <a:r>
              <a:rPr lang="en"/>
              <a:t> articles we are still in the process to fine tune the model but already getting good results</a:t>
            </a:r>
            <a:endParaRPr/>
          </a:p>
          <a:p>
            <a:pPr indent="-342900" lvl="0" marL="914400" rtl="0" algn="l">
              <a:spcBef>
                <a:spcPts val="0"/>
              </a:spcBef>
              <a:spcAft>
                <a:spcPts val="0"/>
              </a:spcAft>
              <a:buSzPts val="1800"/>
              <a:buChar char="●"/>
            </a:pPr>
            <a:r>
              <a:rPr lang="en"/>
              <a:t>More of this is coming in a few days as we finish the fine tuning of the model</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 in all we are </a:t>
            </a:r>
            <a:r>
              <a:rPr lang="en"/>
              <a:t>positive</a:t>
            </a:r>
            <a:r>
              <a:rPr lang="en"/>
              <a:t> to get the best results of this project</a:t>
            </a:r>
            <a:endParaRPr/>
          </a:p>
          <a:p>
            <a:pPr indent="-342900" lvl="0" marL="457200" rtl="0" algn="l">
              <a:spcBef>
                <a:spcPts val="0"/>
              </a:spcBef>
              <a:spcAft>
                <a:spcPts val="0"/>
              </a:spcAft>
              <a:buSzPts val="1800"/>
              <a:buChar char="●"/>
            </a:pPr>
            <a:r>
              <a:rPr lang="en"/>
              <a:t>It was very </a:t>
            </a:r>
            <a:r>
              <a:rPr lang="en"/>
              <a:t>challenging</a:t>
            </a:r>
            <a:r>
              <a:rPr lang="en"/>
              <a:t> to cluster the </a:t>
            </a:r>
            <a:r>
              <a:rPr lang="en"/>
              <a:t>categories</a:t>
            </a:r>
            <a:r>
              <a:rPr lang="en"/>
              <a:t> where we decided that this is not needed to get best results </a:t>
            </a:r>
            <a:endParaRPr/>
          </a:p>
          <a:p>
            <a:pPr indent="-342900" lvl="0" marL="457200" rtl="0" algn="l">
              <a:spcBef>
                <a:spcPts val="0"/>
              </a:spcBef>
              <a:spcAft>
                <a:spcPts val="0"/>
              </a:spcAft>
              <a:buSzPts val="1800"/>
              <a:buChar char="●"/>
            </a:pPr>
            <a:r>
              <a:rPr lang="en"/>
              <a:t>One of the main </a:t>
            </a:r>
            <a:r>
              <a:rPr lang="en"/>
              <a:t>challenges</a:t>
            </a:r>
            <a:r>
              <a:rPr lang="en"/>
              <a:t> we </a:t>
            </a:r>
            <a:r>
              <a:rPr lang="en"/>
              <a:t>experienced</a:t>
            </a:r>
            <a:r>
              <a:rPr lang="en"/>
              <a:t> is to get the best results of a fine tuning of a pre trained model. This takes lots of time efforts and </a:t>
            </a:r>
            <a:r>
              <a:rPr lang="en"/>
              <a:t>understanding in the fine tuning process.</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